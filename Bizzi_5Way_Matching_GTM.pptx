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vi-VN" sz="2800" b="1" dirty="0">
                <a:solidFill>
                  <a:srgbClr val="1B2A4A"/>
                </a:solidFill>
                <a:latin typeface="Arial"/>
              </a:rPr>
              <a:t>5-Way Matching hàng nhập khẩu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vi-VN" sz="1400" i="1" dirty="0">
                <a:solidFill>
                  <a:srgbClr val="5B6472"/>
                </a:solidFill>
                <a:latin typeface="Arial"/>
              </a:rPr>
              <a:t>Đối chiếu tự động 5 chứng từ nhập khẩu — nhanh, chính xác, có audit trail đầy đủ</a:t>
            </a:r>
          </a:p>
        </p:txBody>
      </p:sp>
      <p:sp>
        <p:nvSpPr>
          <p:cNvPr id="4" name="ProblemCard"/>
          <p:cNvSpPr/>
          <p:nvPr/>
        </p:nvSpPr>
        <p:spPr>
          <a:xfrm>
            <a:off x="457200" y="1554480"/>
            <a:ext cx="5394960" cy="19659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roblemText"/>
          <p:cNvSpPr/>
          <p:nvPr/>
        </p:nvSpPr>
        <p:spPr>
          <a:xfrm>
            <a:off x="685800" y="169164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vi-VN" sz="1700" b="1" dirty="0">
                <a:solidFill>
                  <a:srgbClr val="B3261E"/>
                </a:solidFill>
                <a:latin typeface="Arial"/>
              </a:rPr>
              <a:t>Vấn đề</a:t>
            </a:r>
          </a:p>
          <a:p>
            <a:pPr algn="l">
              <a:spcAft>
                <a:spcPts val="250"/>
              </a:spcAft>
              <a:buNone/>
            </a:pPr>
            <a:r>
              <a:rPr lang="vi-VN" sz="1250" dirty="0">
                <a:solidFill>
                  <a:srgbClr val="1B2A4A"/>
                </a:solidFill>
                <a:latin typeface="Arial"/>
              </a:rPr>
              <a:t>• Đối chiếu thủ công 5 chứng từ: Invoice, PO/Hợp đồng, Vận đơn, Tờ khai hải quan, Phiếu nhập kho</a:t>
            </a:r>
          </a:p>
          <a:p>
            <a:pPr algn="l">
              <a:spcAft>
                <a:spcPts val="250"/>
              </a:spcAft>
              <a:buNone/>
            </a:pPr>
            <a:r>
              <a:rPr lang="vi-VN" sz="1250" dirty="0">
                <a:solidFill>
                  <a:srgbClr val="1B2A4A"/>
                </a:solidFill>
                <a:latin typeface="Arial"/>
              </a:rPr>
              <a:t>• Tốn thời gian, dễ sai sót khi nhập liệu và so khớp bằng tay</a:t>
            </a:r>
          </a:p>
          <a:p>
            <a:pPr algn="l">
              <a:spcAft>
                <a:spcPts val="0"/>
              </a:spcAft>
              <a:buNone/>
            </a:pPr>
            <a:r>
              <a:rPr lang="vi-VN" sz="1250" dirty="0">
                <a:solidFill>
                  <a:srgbClr val="1B2A4A"/>
                </a:solidFill>
                <a:latin typeface="Arial"/>
              </a:rPr>
              <a:t>• Khó theo dõi khi một hóa đơn gắn với nhiều PO và nhiều giai đoạn đối chiếu</a:t>
            </a:r>
          </a:p>
        </p:txBody>
      </p:sp>
      <p:sp>
        <p:nvSpPr>
          <p:cNvPr id="6" name="SolutionCard"/>
          <p:cNvSpPr/>
          <p:nvPr/>
        </p:nvSpPr>
        <p:spPr>
          <a:xfrm>
            <a:off x="6309360" y="1554480"/>
            <a:ext cx="5394960" cy="1965960"/>
          </a:xfrm>
          <a:prstGeom prst="roundRect">
            <a:avLst/>
          </a:prstGeom>
          <a:solidFill>
            <a:srgbClr val="E7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olutionText"/>
          <p:cNvSpPr/>
          <p:nvPr/>
        </p:nvSpPr>
        <p:spPr>
          <a:xfrm>
            <a:off x="6537960" y="169164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vi-VN" sz="1700" b="1" dirty="0">
                <a:solidFill>
                  <a:srgbClr val="0F4C5C"/>
                </a:solidFill>
                <a:latin typeface="Arial"/>
              </a:rPr>
              <a:t>Giải pháp</a:t>
            </a:r>
          </a:p>
          <a:p>
            <a:pPr algn="l">
              <a:spcAft>
                <a:spcPts val="250"/>
              </a:spcAft>
              <a:buNone/>
            </a:pPr>
            <a:r>
              <a:rPr lang="vi-VN" sz="1250" dirty="0">
                <a:solidFill>
                  <a:srgbClr val="1B2A4A"/>
                </a:solidFill>
                <a:latin typeface="Arial"/>
              </a:rPr>
              <a:t>• Tự động đối chiếu chéo 5 chứng từ theo bộ quy tắc chuẩn (IMPORT-5W-STANDARD)</a:t>
            </a:r>
          </a:p>
          <a:p>
            <a:pPr algn="l">
              <a:spcAft>
                <a:spcPts val="250"/>
              </a:spcAft>
              <a:buNone/>
            </a:pPr>
            <a:r>
              <a:rPr lang="vi-VN" sz="1250" dirty="0">
                <a:solidFill>
                  <a:srgbClr val="1B2A4A"/>
                </a:solidFill>
                <a:latin typeface="Arial"/>
              </a:rPr>
              <a:t>• Theo dõi trạng thái xuyên suốt 3 giai đoạn: Giai đoạn 1 → 2 → 3</a:t>
            </a:r>
          </a:p>
          <a:p>
            <a:pPr algn="l">
              <a:spcAft>
                <a:spcPts val="0"/>
              </a:spcAft>
              <a:buNone/>
            </a:pPr>
            <a:r>
              <a:rPr lang="vi-VN" sz="1250" dirty="0">
                <a:solidFill>
                  <a:srgbClr val="1B2A4A"/>
                </a:solidFill>
                <a:latin typeface="Arial"/>
              </a:rPr>
              <a:t>• Ghi nhận đầy đủ audit trail cho từng bước xử lý và người phê duyệt</a:t>
            </a:r>
          </a:p>
        </p:txBody>
      </p:sp>
      <p:sp>
        <p:nvSpPr>
          <p:cNvPr id="8" name="FlowCaption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vi-VN" sz="1200" b="1" dirty="0">
                <a:solidFill>
                  <a:srgbClr val="5B6472"/>
                </a:solidFill>
                <a:latin typeface="Arial"/>
              </a:rPr>
              <a:t>5 chứng từ đầu vào  →  Đối chiếu chéo tự động  →  Kết quả theo từng trường dữ liệu</a:t>
            </a:r>
          </a:p>
        </p:txBody>
      </p:sp>
      <p:sp>
        <p:nvSpPr>
          <p:cNvPr id="9" name="Doc0"/>
          <p:cNvSpPr/>
          <p:nvPr/>
        </p:nvSpPr>
        <p:spPr>
          <a:xfrm>
            <a:off x="502920" y="42976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00" b="1" dirty="0">
                <a:solidFill>
                  <a:srgbClr val="0F4C5C"/>
                </a:solidFill>
                <a:latin typeface="Arial"/>
              </a:rPr>
              <a:t>Invoice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1417320" y="4754880"/>
            <a:ext cx="502920" cy="0"/>
          </a:xfrm>
          <a:prstGeom prst="straightConnector1">
            <a:avLst/>
          </a:prstGeom>
          <a:ln w="19050">
            <a:solidFill>
              <a:srgbClr val="1C7293"/>
            </a:solidFill>
            <a:tailEnd type="triangle" w="med" len="med"/>
          </a:ln>
        </p:spPr>
      </p:cxnSp>
      <p:sp>
        <p:nvSpPr>
          <p:cNvPr id="11" name="Doc1"/>
          <p:cNvSpPr/>
          <p:nvPr/>
        </p:nvSpPr>
        <p:spPr>
          <a:xfrm>
            <a:off x="1920240" y="42976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00" b="1" dirty="0">
                <a:solidFill>
                  <a:srgbClr val="0F4C5C"/>
                </a:solidFill>
                <a:latin typeface="Arial"/>
              </a:rPr>
              <a:t>PO / Hợp đồng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2834640" y="4754880"/>
            <a:ext cx="502920" cy="0"/>
          </a:xfrm>
          <a:prstGeom prst="straightConnector1">
            <a:avLst/>
          </a:prstGeom>
          <a:ln w="19050">
            <a:solidFill>
              <a:srgbClr val="1C7293"/>
            </a:solidFill>
            <a:tailEnd type="triangle" w="med" len="med"/>
          </a:ln>
        </p:spPr>
      </p:cxnSp>
      <p:sp>
        <p:nvSpPr>
          <p:cNvPr id="13" name="Doc2"/>
          <p:cNvSpPr/>
          <p:nvPr/>
        </p:nvSpPr>
        <p:spPr>
          <a:xfrm>
            <a:off x="3337560" y="42976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00" b="1" dirty="0">
                <a:solidFill>
                  <a:srgbClr val="0F4C5C"/>
                </a:solidFill>
                <a:latin typeface="Arial"/>
              </a:rPr>
              <a:t>Vận đơn (BL)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4251960" y="4754880"/>
            <a:ext cx="502920" cy="0"/>
          </a:xfrm>
          <a:prstGeom prst="straightConnector1">
            <a:avLst/>
          </a:prstGeom>
          <a:ln w="19050">
            <a:solidFill>
              <a:srgbClr val="1C7293"/>
            </a:solidFill>
            <a:tailEnd type="triangle" w="med" len="med"/>
          </a:ln>
        </p:spPr>
      </p:cxnSp>
      <p:sp>
        <p:nvSpPr>
          <p:cNvPr id="15" name="Doc3"/>
          <p:cNvSpPr/>
          <p:nvPr/>
        </p:nvSpPr>
        <p:spPr>
          <a:xfrm>
            <a:off x="4754880" y="42976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00" b="1" dirty="0">
                <a:solidFill>
                  <a:srgbClr val="0F4C5C"/>
                </a:solidFill>
                <a:latin typeface="Arial"/>
              </a:rPr>
              <a:t>Tờ khai HQ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5669280" y="4754880"/>
            <a:ext cx="502920" cy="0"/>
          </a:xfrm>
          <a:prstGeom prst="straightConnector1">
            <a:avLst/>
          </a:prstGeom>
          <a:ln w="19050">
            <a:solidFill>
              <a:srgbClr val="1C7293"/>
            </a:solidFill>
            <a:tailEnd type="triangle" w="med" len="med"/>
          </a:ln>
        </p:spPr>
      </p:cxnSp>
      <p:sp>
        <p:nvSpPr>
          <p:cNvPr id="17" name="Doc4"/>
          <p:cNvSpPr/>
          <p:nvPr/>
        </p:nvSpPr>
        <p:spPr>
          <a:xfrm>
            <a:off x="6172200" y="429768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00" b="1" dirty="0">
                <a:solidFill>
                  <a:srgbClr val="0F4C5C"/>
                </a:solidFill>
                <a:latin typeface="Arial"/>
              </a:rPr>
              <a:t>Phiếu nhập kho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7178040" y="4754880"/>
            <a:ext cx="502920" cy="0"/>
          </a:xfrm>
          <a:prstGeom prst="straightConnector1">
            <a:avLst/>
          </a:prstGeom>
          <a:ln w="38100">
            <a:solidFill>
              <a:srgbClr val="1B2A4A"/>
            </a:solidFill>
            <a:tailEnd type="triangle" w="med" len="med"/>
          </a:ln>
        </p:spPr>
      </p:cxnSp>
      <p:sp>
        <p:nvSpPr>
          <p:cNvPr id="19" name="MatchBox"/>
          <p:cNvSpPr/>
          <p:nvPr/>
        </p:nvSpPr>
        <p:spPr>
          <a:xfrm>
            <a:off x="7726680" y="4114800"/>
            <a:ext cx="1965960" cy="12801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vi-VN" sz="1150" b="1" dirty="0">
                <a:solidFill>
                  <a:srgbClr val="FFFFFF"/>
                </a:solidFill>
                <a:latin typeface="Arial"/>
              </a:rPr>
              <a:t>ĐỐI CHIẾU</a:t>
            </a:r>
          </a:p>
          <a:p>
            <a:pPr algn="ctr">
              <a:spcAft>
                <a:spcPts val="0"/>
              </a:spcAft>
              <a:buNone/>
            </a:pPr>
            <a:r>
              <a:rPr lang="vi-VN" sz="1150" b="1" dirty="0">
                <a:solidFill>
                  <a:srgbClr val="FFFFFF"/>
                </a:solidFill>
                <a:latin typeface="Arial"/>
              </a:rPr>
              <a:t>5 CHIỀU</a:t>
            </a:r>
          </a:p>
        </p:txBody>
      </p:sp>
      <p:sp>
        <p:nvSpPr>
          <p:cNvPr id="20" name="Chip0"/>
          <p:cNvSpPr/>
          <p:nvPr/>
        </p:nvSpPr>
        <p:spPr>
          <a:xfrm>
            <a:off x="2811780" y="5532120"/>
            <a:ext cx="1417320" cy="38404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50" b="1" dirty="0">
                <a:solidFill>
                  <a:srgbClr val="1E7B34"/>
                </a:solidFill>
                <a:latin typeface="Arial"/>
              </a:rPr>
              <a:t>Đã khớp</a:t>
            </a:r>
          </a:p>
        </p:txBody>
      </p:sp>
      <p:sp>
        <p:nvSpPr>
          <p:cNvPr id="21" name="Chip1"/>
          <p:cNvSpPr/>
          <p:nvPr/>
        </p:nvSpPr>
        <p:spPr>
          <a:xfrm>
            <a:off x="4366260" y="5532120"/>
            <a:ext cx="1417320" cy="384048"/>
          </a:xfrm>
          <a:prstGeom prst="roundRect">
            <a:avLst/>
          </a:prstGeom>
          <a:solidFill>
            <a:srgbClr val="FDF3E3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50" b="1" dirty="0">
                <a:solidFill>
                  <a:srgbClr val="9A6300"/>
                </a:solidFill>
                <a:latin typeface="Arial"/>
              </a:rPr>
              <a:t>Trong ngưỡng</a:t>
            </a:r>
          </a:p>
        </p:txBody>
      </p:sp>
      <p:sp>
        <p:nvSpPr>
          <p:cNvPr id="22" name="Chip2"/>
          <p:cNvSpPr/>
          <p:nvPr/>
        </p:nvSpPr>
        <p:spPr>
          <a:xfrm>
            <a:off x="5920740" y="5532120"/>
            <a:ext cx="1417320" cy="384048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050" b="1" dirty="0">
                <a:solidFill>
                  <a:srgbClr val="C0392B"/>
                </a:solidFill>
                <a:latin typeface="Arial"/>
              </a:rPr>
              <a:t>Không khớp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2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vi-VN" sz="2600" b="1" dirty="0">
                <a:solidFill>
                  <a:srgbClr val="1B2A4A"/>
                </a:solidFill>
                <a:latin typeface="Arial"/>
              </a:rPr>
              <a:t>Cách hoạt động</a:t>
            </a:r>
          </a:p>
        </p:txBody>
      </p:sp>
      <p:sp>
        <p:nvSpPr>
          <p:cNvPr id="3" name="Step0Card"/>
          <p:cNvSpPr/>
          <p:nvPr/>
        </p:nvSpPr>
        <p:spPr>
          <a:xfrm>
            <a:off x="457200" y="1234440"/>
            <a:ext cx="2468880" cy="1554480"/>
          </a:xfrm>
          <a:prstGeom prst="roundRect">
            <a:avLst/>
          </a:prstGeom>
          <a:solidFill>
            <a:srgbClr val="F4F7F9"/>
          </a:solidFill>
          <a:ln w="9525">
            <a:solidFill>
              <a:srgbClr val="1C7293"/>
            </a:solidFill>
          </a:ln>
        </p:spPr>
        <p:txBody>
          <a:bodyPr/>
          <a:lstStyle/>
          <a:p/>
        </p:txBody>
      </p:sp>
      <p:sp>
        <p:nvSpPr>
          <p:cNvPr id="4" name="Step0Text"/>
          <p:cNvSpPr/>
          <p:nvPr/>
        </p:nvSpPr>
        <p:spPr>
          <a:xfrm>
            <a:off x="658368" y="1371600"/>
            <a:ext cx="2066544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vi-VN" sz="2000" b="1" dirty="0">
                <a:solidFill>
                  <a:srgbClr val="1C7293"/>
                </a:solidFill>
                <a:latin typeface="Arial"/>
              </a:rPr>
              <a:t>1</a:t>
            </a:r>
          </a:p>
          <a:p>
            <a:pPr algn="l">
              <a:spcAft>
                <a:spcPts val="150"/>
              </a:spcAft>
              <a:buNone/>
            </a:pPr>
            <a:r>
              <a:rPr lang="vi-VN" sz="1300" b="1" dirty="0">
                <a:solidFill>
                  <a:srgbClr val="1B2A4A"/>
                </a:solidFill>
                <a:latin typeface="Arial"/>
              </a:rPr>
              <a:t>Tải lên chứng từ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00" dirty="0">
                <a:solidFill>
                  <a:srgbClr val="5B6472"/>
                </a:solidFill>
                <a:latin typeface="Arial"/>
              </a:rPr>
              <a:t>Invoice, PO/Hợp đồng, Vận đơn, Tờ khai hải quan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2971800" y="2011680"/>
            <a:ext cx="274320" cy="0"/>
          </a:xfrm>
          <a:prstGeom prst="straightConnector1">
            <a:avLst/>
          </a:prstGeom>
          <a:ln w="28575">
            <a:solidFill>
              <a:srgbClr val="1B2A4A"/>
            </a:solidFill>
            <a:tailEnd type="triangle" w="med" len="med"/>
          </a:ln>
        </p:spPr>
      </p:cxnSp>
      <p:sp>
        <p:nvSpPr>
          <p:cNvPr id="6" name="Step1Card"/>
          <p:cNvSpPr/>
          <p:nvPr/>
        </p:nvSpPr>
        <p:spPr>
          <a:xfrm>
            <a:off x="3474720" y="1234440"/>
            <a:ext cx="2468880" cy="1554480"/>
          </a:xfrm>
          <a:prstGeom prst="roundRect">
            <a:avLst/>
          </a:prstGeom>
          <a:solidFill>
            <a:srgbClr val="F4F7F9"/>
          </a:solidFill>
          <a:ln w="9525">
            <a:solidFill>
              <a:srgbClr val="1C7293"/>
            </a:solidFill>
          </a:ln>
        </p:spPr>
        <p:txBody>
          <a:bodyPr/>
          <a:lstStyle/>
          <a:p/>
        </p:txBody>
      </p:sp>
      <p:sp>
        <p:nvSpPr>
          <p:cNvPr id="7" name="Step1Text"/>
          <p:cNvSpPr/>
          <p:nvPr/>
        </p:nvSpPr>
        <p:spPr>
          <a:xfrm>
            <a:off x="3675888" y="1371600"/>
            <a:ext cx="2066544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vi-VN" sz="2000" b="1" dirty="0">
                <a:solidFill>
                  <a:srgbClr val="1C7293"/>
                </a:solidFill>
                <a:latin typeface="Arial"/>
              </a:rPr>
              <a:t>2</a:t>
            </a:r>
          </a:p>
          <a:p>
            <a:pPr algn="l">
              <a:spcAft>
                <a:spcPts val="150"/>
              </a:spcAft>
              <a:buNone/>
            </a:pPr>
            <a:r>
              <a:rPr lang="vi-VN" sz="1300" b="1" dirty="0">
                <a:solidFill>
                  <a:srgbClr val="1B2A4A"/>
                </a:solidFill>
                <a:latin typeface="Arial"/>
              </a:rPr>
              <a:t>Trích xuất dữ liệu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00" dirty="0">
                <a:solidFill>
                  <a:srgbClr val="5B6472"/>
                </a:solidFill>
                <a:latin typeface="Arial"/>
              </a:rPr>
              <a:t>OCR tự động, cấu trúc hóa các trường dữ liệu</a:t>
            </a:r>
          </a:p>
        </p:txBody>
      </p:sp>
      <p:cxnSp>
        <p:nvCxnSpPr>
          <p:cNvPr id="8" name="Arrow"/>
          <p:cNvCxnSpPr/>
          <p:nvPr/>
        </p:nvCxnSpPr>
        <p:spPr>
          <a:xfrm>
            <a:off x="5989320" y="2011680"/>
            <a:ext cx="274320" cy="0"/>
          </a:xfrm>
          <a:prstGeom prst="straightConnector1">
            <a:avLst/>
          </a:prstGeom>
          <a:ln w="28575">
            <a:solidFill>
              <a:srgbClr val="1B2A4A"/>
            </a:solidFill>
            <a:tailEnd type="triangle" w="med" len="med"/>
          </a:ln>
        </p:spPr>
      </p:cxnSp>
      <p:sp>
        <p:nvSpPr>
          <p:cNvPr id="9" name="Step2Card"/>
          <p:cNvSpPr/>
          <p:nvPr/>
        </p:nvSpPr>
        <p:spPr>
          <a:xfrm>
            <a:off x="6492240" y="1234440"/>
            <a:ext cx="2468880" cy="1554480"/>
          </a:xfrm>
          <a:prstGeom prst="roundRect">
            <a:avLst/>
          </a:prstGeom>
          <a:solidFill>
            <a:srgbClr val="F4F7F9"/>
          </a:solidFill>
          <a:ln w="9525">
            <a:solidFill>
              <a:srgbClr val="1C7293"/>
            </a:solidFill>
          </a:ln>
        </p:spPr>
        <p:txBody>
          <a:bodyPr/>
          <a:lstStyle/>
          <a:p/>
        </p:txBody>
      </p:sp>
      <p:sp>
        <p:nvSpPr>
          <p:cNvPr id="10" name="Step2Text"/>
          <p:cNvSpPr/>
          <p:nvPr/>
        </p:nvSpPr>
        <p:spPr>
          <a:xfrm>
            <a:off x="6693408" y="1371600"/>
            <a:ext cx="2066544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vi-VN" sz="2000" b="1" dirty="0">
                <a:solidFill>
                  <a:srgbClr val="1C7293"/>
                </a:solidFill>
                <a:latin typeface="Arial"/>
              </a:rPr>
              <a:t>3</a:t>
            </a:r>
          </a:p>
          <a:p>
            <a:pPr algn="l">
              <a:spcAft>
                <a:spcPts val="150"/>
              </a:spcAft>
              <a:buNone/>
            </a:pPr>
            <a:r>
              <a:rPr lang="vi-VN" sz="1300" b="1" dirty="0">
                <a:solidFill>
                  <a:srgbClr val="1B2A4A"/>
                </a:solidFill>
                <a:latin typeface="Arial"/>
              </a:rPr>
              <a:t>Đối chiếu chéo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00" dirty="0">
                <a:solidFill>
                  <a:srgbClr val="5B6472"/>
                </a:solidFill>
                <a:latin typeface="Arial"/>
              </a:rPr>
              <a:t>Theo tiêu chí: người bán/mua, Incoterm, thanh toán, tàu/chuyến, container...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9006840" y="2011680"/>
            <a:ext cx="274320" cy="0"/>
          </a:xfrm>
          <a:prstGeom prst="straightConnector1">
            <a:avLst/>
          </a:prstGeom>
          <a:ln w="28575">
            <a:solidFill>
              <a:srgbClr val="1B2A4A"/>
            </a:solidFill>
            <a:tailEnd type="triangle" w="med" len="med"/>
          </a:ln>
        </p:spPr>
      </p:cxnSp>
      <p:sp>
        <p:nvSpPr>
          <p:cNvPr id="12" name="Step3Card"/>
          <p:cNvSpPr/>
          <p:nvPr/>
        </p:nvSpPr>
        <p:spPr>
          <a:xfrm>
            <a:off x="9509760" y="1234440"/>
            <a:ext cx="2468880" cy="1554480"/>
          </a:xfrm>
          <a:prstGeom prst="roundRect">
            <a:avLst/>
          </a:prstGeom>
          <a:solidFill>
            <a:srgbClr val="F4F7F9"/>
          </a:solidFill>
          <a:ln w="9525">
            <a:solidFill>
              <a:srgbClr val="1C7293"/>
            </a:solidFill>
          </a:ln>
        </p:spPr>
        <p:txBody>
          <a:bodyPr/>
          <a:lstStyle/>
          <a:p/>
        </p:txBody>
      </p:sp>
      <p:sp>
        <p:nvSpPr>
          <p:cNvPr id="13" name="Step3Text"/>
          <p:cNvSpPr/>
          <p:nvPr/>
        </p:nvSpPr>
        <p:spPr>
          <a:xfrm>
            <a:off x="9710928" y="1371600"/>
            <a:ext cx="2066544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vi-VN" sz="2000" b="1" dirty="0">
                <a:solidFill>
                  <a:srgbClr val="1C7293"/>
                </a:solidFill>
                <a:latin typeface="Arial"/>
              </a:rPr>
              <a:t>4</a:t>
            </a:r>
          </a:p>
          <a:p>
            <a:pPr algn="l">
              <a:spcAft>
                <a:spcPts val="150"/>
              </a:spcAft>
              <a:buNone/>
            </a:pPr>
            <a:r>
              <a:rPr lang="vi-VN" sz="1300" b="1" dirty="0">
                <a:solidFill>
                  <a:srgbClr val="1B2A4A"/>
                </a:solidFill>
                <a:latin typeface="Arial"/>
              </a:rPr>
              <a:t>Theo dõi theo giai đoạn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00" dirty="0">
                <a:solidFill>
                  <a:srgbClr val="5B6472"/>
                </a:solidFill>
                <a:latin typeface="Arial"/>
              </a:rPr>
              <a:t>Giai đoạn 1 → 2 → 3, trạng thái cập nhật tự động</a:t>
            </a:r>
          </a:p>
        </p:txBody>
      </p:sp>
      <p:sp>
        <p:nvSpPr>
          <p:cNvPr id="14" name="ValueTitle"/>
          <p:cNvSpPr/>
          <p:nvPr/>
        </p:nvSpPr>
        <p:spPr>
          <a:xfrm>
            <a:off x="457200" y="3063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vi-VN" sz="1700" b="1" dirty="0">
                <a:solidFill>
                  <a:srgbClr val="1B2A4A"/>
                </a:solidFill>
                <a:latin typeface="Arial"/>
              </a:rPr>
              <a:t>Giá trị mang lại</a:t>
            </a:r>
          </a:p>
        </p:txBody>
      </p:sp>
      <p:sp>
        <p:nvSpPr>
          <p:cNvPr id="15" name="Value0Card"/>
          <p:cNvSpPr/>
          <p:nvPr/>
        </p:nvSpPr>
        <p:spPr>
          <a:xfrm>
            <a:off x="457200" y="3611880"/>
            <a:ext cx="2606040" cy="265176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Value0Text"/>
          <p:cNvSpPr/>
          <p:nvPr/>
        </p:nvSpPr>
        <p:spPr>
          <a:xfrm>
            <a:off x="640080" y="38404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50"/>
              </a:spcAft>
              <a:buNone/>
            </a:pPr>
            <a:r>
              <a:rPr lang="vi-VN" sz="1250" b="1" dirty="0">
                <a:solidFill>
                  <a:srgbClr val="1B2A4A"/>
                </a:solidFill>
                <a:latin typeface="Arial"/>
              </a:rPr>
              <a:t>Tiết kiệm thời gian đối chiếu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50" i="1" dirty="0">
                <a:solidFill>
                  <a:srgbClr val="1E7B34"/>
                </a:solidFill>
                <a:latin typeface="Arial"/>
              </a:rPr>
              <a:t>[Số liệu thực tế — đang cập nhật]</a:t>
            </a:r>
          </a:p>
        </p:txBody>
      </p:sp>
      <p:sp>
        <p:nvSpPr>
          <p:cNvPr id="17" name="Value1Card"/>
          <p:cNvSpPr/>
          <p:nvPr/>
        </p:nvSpPr>
        <p:spPr>
          <a:xfrm>
            <a:off x="3227832" y="3611880"/>
            <a:ext cx="2606040" cy="265176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Value1Text"/>
          <p:cNvSpPr/>
          <p:nvPr/>
        </p:nvSpPr>
        <p:spPr>
          <a:xfrm>
            <a:off x="3410712" y="38404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50"/>
              </a:spcAft>
              <a:buNone/>
            </a:pPr>
            <a:r>
              <a:rPr lang="vi-VN" sz="1250" b="1" dirty="0">
                <a:solidFill>
                  <a:srgbClr val="1B2A4A"/>
                </a:solidFill>
                <a:latin typeface="Arial"/>
              </a:rPr>
              <a:t>Giảm sai sót thao tác thủ công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50" i="1" dirty="0">
                <a:solidFill>
                  <a:srgbClr val="1E7B34"/>
                </a:solidFill>
                <a:latin typeface="Arial"/>
              </a:rPr>
              <a:t>[Số liệu thực tế — đang cập nhật]</a:t>
            </a:r>
          </a:p>
        </p:txBody>
      </p:sp>
      <p:sp>
        <p:nvSpPr>
          <p:cNvPr id="19" name="Value2Card"/>
          <p:cNvSpPr/>
          <p:nvPr/>
        </p:nvSpPr>
        <p:spPr>
          <a:xfrm>
            <a:off x="5998464" y="3611880"/>
            <a:ext cx="2606040" cy="2651760"/>
          </a:xfrm>
          <a:prstGeom prst="roundRect">
            <a:avLst/>
          </a:prstGeom>
          <a:solidFill>
            <a:srgbClr val="E7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Value2Text"/>
          <p:cNvSpPr/>
          <p:nvPr/>
        </p:nvSpPr>
        <p:spPr>
          <a:xfrm>
            <a:off x="6181344" y="38404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50"/>
              </a:spcAft>
              <a:buNone/>
            </a:pPr>
            <a:r>
              <a:rPr lang="vi-VN" sz="1250" b="1" dirty="0">
                <a:solidFill>
                  <a:srgbClr val="1B2A4A"/>
                </a:solidFill>
                <a:latin typeface="Arial"/>
              </a:rPr>
              <a:t>Hỗ trợ nhiều PO / nhiều giai đoạn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50" dirty="0">
                <a:solidFill>
                  <a:srgbClr val="0F4C5C"/>
                </a:solidFill>
                <a:latin typeface="Arial"/>
              </a:rPr>
              <a:t>Đã kiểm chứng: 1 hóa đơn ↔ tới 7 PO</a:t>
            </a:r>
          </a:p>
        </p:txBody>
      </p:sp>
      <p:sp>
        <p:nvSpPr>
          <p:cNvPr id="21" name="Value3Card"/>
          <p:cNvSpPr/>
          <p:nvPr/>
        </p:nvSpPr>
        <p:spPr>
          <a:xfrm>
            <a:off x="8769096" y="3611880"/>
            <a:ext cx="2606040" cy="2651760"/>
          </a:xfrm>
          <a:prstGeom prst="roundRect">
            <a:avLst/>
          </a:prstGeom>
          <a:solidFill>
            <a:srgbClr val="E7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Value3Text"/>
          <p:cNvSpPr/>
          <p:nvPr/>
        </p:nvSpPr>
        <p:spPr>
          <a:xfrm>
            <a:off x="8951976" y="384048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50"/>
              </a:spcAft>
              <a:buNone/>
            </a:pPr>
            <a:r>
              <a:rPr lang="vi-VN" sz="1250" b="1" dirty="0">
                <a:solidFill>
                  <a:srgbClr val="1B2A4A"/>
                </a:solidFill>
                <a:latin typeface="Arial"/>
              </a:rPr>
              <a:t>Audit trail đầy đủ</a:t>
            </a:r>
          </a:p>
          <a:p>
            <a:pPr algn="l">
              <a:spcAft>
                <a:spcPts val="0"/>
              </a:spcAft>
              <a:buNone/>
            </a:pPr>
            <a:r>
              <a:rPr lang="vi-VN" sz="1050" dirty="0">
                <a:solidFill>
                  <a:srgbClr val="0F4C5C"/>
                </a:solidFill>
                <a:latin typeface="Arial"/>
              </a:rPr>
              <a:t>Ghi nhận từng bước xử lý và người phê duyệt, có dấu thời gian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3"/>
          <p:cNvSpPr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vi-VN" sz="2600" b="1" dirty="0">
                <a:solidFill>
                  <a:srgbClr val="1B2A4A"/>
                </a:solidFill>
                <a:latin typeface="Arial"/>
              </a:rPr>
              <a:t>Đối tượng khách hàng</a:t>
            </a:r>
          </a:p>
        </p:txBody>
      </p:sp>
      <p:sp>
        <p:nvSpPr>
          <p:cNvPr id="3" name="Persona0Card"/>
          <p:cNvSpPr/>
          <p:nvPr/>
        </p:nvSpPr>
        <p:spPr>
          <a:xfrm>
            <a:off x="457200" y="1234440"/>
            <a:ext cx="3429000" cy="23317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ersona0Num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5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Persona0Text"/>
          <p:cNvSpPr/>
          <p:nvPr/>
        </p:nvSpPr>
        <p:spPr>
          <a:xfrm>
            <a:off x="685800" y="224028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vi-VN" sz="1350" b="1" dirty="0">
                <a:solidFill>
                  <a:srgbClr val="1B2A4A"/>
                </a:solidFill>
                <a:latin typeface="Arial"/>
              </a:rPr>
              <a:t>Doanh nghiệp nhập khẩu</a:t>
            </a:r>
          </a:p>
          <a:p>
            <a:pPr algn="l">
              <a:spcAft>
                <a:spcPts val="0"/>
              </a:spcAft>
              <a:buNone/>
            </a:pPr>
            <a:r>
              <a:rPr lang="vi-VN" sz="1100" dirty="0">
                <a:solidFill>
                  <a:srgbClr val="5B6472"/>
                </a:solidFill>
                <a:latin typeface="Arial"/>
              </a:rPr>
              <a:t>Khối lượng chứng từ lớn, nhiều nhà cung cấp và nhiều PO trên một lô hàng</a:t>
            </a:r>
          </a:p>
        </p:txBody>
      </p:sp>
      <p:sp>
        <p:nvSpPr>
          <p:cNvPr id="6" name="Persona1Card"/>
          <p:cNvSpPr/>
          <p:nvPr/>
        </p:nvSpPr>
        <p:spPr>
          <a:xfrm>
            <a:off x="4069080" y="1234440"/>
            <a:ext cx="3429000" cy="23317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ersona1Num"/>
          <p:cNvSpPr/>
          <p:nvPr/>
        </p:nvSpPr>
        <p:spPr>
          <a:xfrm>
            <a:off x="4297680" y="146304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5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Persona1Text"/>
          <p:cNvSpPr/>
          <p:nvPr/>
        </p:nvSpPr>
        <p:spPr>
          <a:xfrm>
            <a:off x="4297680" y="224028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vi-VN" sz="1350" b="1" dirty="0">
                <a:solidFill>
                  <a:srgbClr val="1B2A4A"/>
                </a:solidFill>
                <a:latin typeface="Arial"/>
              </a:rPr>
              <a:t>Kế toán / Tài chính</a:t>
            </a:r>
          </a:p>
          <a:p>
            <a:pPr algn="l">
              <a:spcAft>
                <a:spcPts val="0"/>
              </a:spcAft>
              <a:buNone/>
            </a:pPr>
            <a:r>
              <a:rPr lang="vi-VN" sz="1100" dirty="0">
                <a:solidFill>
                  <a:srgbClr val="5B6472"/>
                </a:solidFill>
                <a:latin typeface="Arial"/>
              </a:rPr>
              <a:t>Cần kiểm soát đối chiếu chứng từ trước khi hạch toán lên ERP</a:t>
            </a:r>
          </a:p>
        </p:txBody>
      </p:sp>
      <p:sp>
        <p:nvSpPr>
          <p:cNvPr id="9" name="Persona2Card"/>
          <p:cNvSpPr/>
          <p:nvPr/>
        </p:nvSpPr>
        <p:spPr>
          <a:xfrm>
            <a:off x="7680960" y="1234440"/>
            <a:ext cx="3429000" cy="23317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ersona2Num"/>
          <p:cNvSpPr/>
          <p:nvPr/>
        </p:nvSpPr>
        <p:spPr>
          <a:xfrm>
            <a:off x="7909560" y="146304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5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Persona2Text"/>
          <p:cNvSpPr/>
          <p:nvPr/>
        </p:nvSpPr>
        <p:spPr>
          <a:xfrm>
            <a:off x="7909560" y="224028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vi-VN" sz="1350" b="1" dirty="0">
                <a:solidFill>
                  <a:srgbClr val="1B2A4A"/>
                </a:solidFill>
                <a:latin typeface="Arial"/>
              </a:rPr>
              <a:t>Doanh nghiệp đã dùng ERP</a:t>
            </a:r>
          </a:p>
          <a:p>
            <a:pPr algn="l">
              <a:spcAft>
                <a:spcPts val="0"/>
              </a:spcAft>
              <a:buNone/>
            </a:pPr>
            <a:r>
              <a:rPr lang="vi-VN" sz="1100" dirty="0">
                <a:solidFill>
                  <a:srgbClr val="5B6472"/>
                </a:solidFill>
                <a:latin typeface="Arial"/>
              </a:rPr>
              <a:t>Muốn tự động hóa khâu đối chiếu nhập khẩu, kết nối SAP/ERP sẵn có</a:t>
            </a:r>
          </a:p>
        </p:txBody>
      </p:sp>
      <p:sp>
        <p:nvSpPr>
          <p:cNvPr id="12" name="CTABand"/>
          <p:cNvSpPr/>
          <p:nvPr/>
        </p:nvSpPr>
        <p:spPr>
          <a:xfrm>
            <a:off x="457200" y="3931920"/>
            <a:ext cx="11274552" cy="21488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TAText"/>
          <p:cNvSpPr/>
          <p:nvPr/>
        </p:nvSpPr>
        <p:spPr>
          <a:xfrm>
            <a:off x="822960" y="420624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>
              <a:spcAft>
                <a:spcPts val="250"/>
              </a:spcAft>
              <a:buNone/>
            </a:pPr>
            <a:r>
              <a:rPr lang="vi-VN" sz="1800" b="1" dirty="0">
                <a:solidFill>
                  <a:srgbClr val="FFFFFF"/>
                </a:solidFill>
                <a:latin typeface="Arial"/>
              </a:rPr>
              <a:t>Xem demo trên chính dữ liệu chứng từ của doanh nghiệp bạn</a:t>
            </a:r>
          </a:p>
          <a:p>
            <a:pPr algn="l">
              <a:spcAft>
                <a:spcPts val="200"/>
              </a:spcAft>
              <a:buNone/>
            </a:pPr>
            <a:r>
              <a:rPr lang="vi-VN" sz="1300" dirty="0">
                <a:solidFill>
                  <a:srgbClr val="FFFFFF"/>
                </a:solidFill>
                <a:latin typeface="Arial"/>
              </a:rPr>
              <a:t>Đặt lịch demo 5-Way Matching cùng đội ngũ Bizzi</a:t>
            </a:r>
          </a:p>
          <a:p>
            <a:pPr algn="l">
              <a:spcAft>
                <a:spcPts val="0"/>
              </a:spcAft>
              <a:buNone/>
            </a:pPr>
            <a:r>
              <a:rPr lang="vi-VN" sz="1150" i="1" dirty="0">
                <a:solidFill>
                  <a:srgbClr val="FFFFFF"/>
                </a:solidFill>
                <a:latin typeface="Arial"/>
              </a:rPr>
              <a:t>Liên hệ: [Thông tin liên hệ — đang cập nhật]</a:t>
            </a:r>
          </a:p>
        </p:txBody>
      </p:sp>
      <p:sp>
        <p:nvSpPr>
          <p:cNvPr id="14" name="CTAButton"/>
          <p:cNvSpPr/>
          <p:nvPr/>
        </p:nvSpPr>
        <p:spPr>
          <a:xfrm>
            <a:off x="8961120" y="4709160"/>
            <a:ext cx="2377440" cy="6858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txBody>
          <a:bodyPr wrap="square" anchor="ctr" lIns="0" tIns="0" rIns="0" bIns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vi-VN" sz="1300" b="1" dirty="0">
                <a:solidFill>
                  <a:srgbClr val="FFFFFF"/>
                </a:solidFill>
                <a:latin typeface="Arial"/>
              </a:rPr>
              <a:t>Đặt lịch demo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zziGTM">
  <a:themeElements>
    <a:clrScheme name="BizziGTM">
      <a:dk1>
        <a:srgbClr val="000000"/>
      </a:dk1>
      <a:lt1>
        <a:srgbClr val="FFFFFF"/>
      </a:lt1>
      <a:dk2>
        <a:srgbClr val="1B2A4A"/>
      </a:dk2>
      <a:lt2>
        <a:srgbClr val="F4F7F9"/>
      </a:lt2>
      <a:accent1>
        <a:srgbClr val="1C7293"/>
      </a:accent1>
      <a:accent2>
        <a:srgbClr val="0F4C5C"/>
      </a:accent2>
      <a:accent3>
        <a:srgbClr val="1B2A4A"/>
      </a:accent3>
      <a:accent4>
        <a:srgbClr val="1E7B34"/>
      </a:accent4>
      <a:accent5>
        <a:srgbClr val="9A6300"/>
      </a:accent5>
      <a:accent6>
        <a:srgbClr val="C0392B"/>
      </a:accent6>
      <a:hlink>
        <a:srgbClr val="1C7293"/>
      </a:hlink>
      <a:folHlink>
        <a:srgbClr val="0F4C5C"/>
      </a:folHlink>
    </a:clrScheme>
    <a:fontScheme name="BizziGT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izziGT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Custom Python Builder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5-Way Matching hang nhap khau - Bizzi GTM</dc:title>
  <dc:creator>Bizzi</dc:creator>
  <cp:lastModifiedBy>Bizzi</cp:lastModifiedBy>
</cp:coreProperties>
</file>